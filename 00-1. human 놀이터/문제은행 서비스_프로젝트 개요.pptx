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108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698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문항서비스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문항 자산을 구조화하고, 단계적으로 AI를 활용하는 통합 플랫폼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743200"/>
            <a:ext cx="1097280" cy="1097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문항서비스, 한마디로?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73152" cy="14630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HWP/Word 문항을 구조화된 DB로 옮기고,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AI를 활용해 분류·검증·출제·분석까지 하나로 잇는 시스템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651760" cy="54864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4864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누구를 위해?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교사 — 출제·리포팅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— 시험·피드백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문항개발자 — 저작·검수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3383280" y="2926080"/>
            <a:ext cx="265176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38328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필요한가?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문항은 재활용 불가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분류·검색이 안 됨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검증이 수작업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2926080"/>
            <a:ext cx="265176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217920" y="2926080"/>
            <a:ext cx="265176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접근?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4747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1단계: 기존 문항 변환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2단계: AI 검증·분류 보조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3단계: AI 생성 (검수 후)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접근 전략: 변환 먼저, 생성은 나중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"처음부터 AI가 문항을 만드는 게 아닙니다"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931920" cy="59436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 기존 문항 변환 (최우선)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</a:rPr>
              <a:t>HWP/Word 파일을 구조화 DB로 변환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특히 수학 문항 — 수식 변환이 핵심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변환 결과도 AI가 1차 검증 → 사람이 확인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이미 축적된 수만 건의 문항 자산 활용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E6DB4"/>
                </a:solidFill>
              </a:rPr>
              <a:t>→ AI 생성 없이도 서비스 가능한 기반 확보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  AI 검증·분류 보조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KC(지식개념) 자동 태깅 → 사람 확인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유사 문항 탐지, 오류 사전 검출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39319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  AI 생성 (검수 전제)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3611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변환·검증 체계가 안정된 후에 시도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AI 생성 결과는 반드시 사람 검수 통과 후 등록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EF4444"/>
                </a:solidFill>
              </a:rPr>
              <a:t>검수 없이 서비스에 나가는 문항은 없음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AI가 구체적으로 뭘 하는가?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4124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단계별로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626547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151827"/>
            <a:ext cx="8412480" cy="41148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1151827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151827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역할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151827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역할 (검수)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0" y="1151827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우선순위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609027"/>
            <a:ext cx="841248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457200" y="1609027"/>
            <a:ext cx="155448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 → 구조화 변환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609027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문서 구조 분석, 수식 인식,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보기·정답·해설 분리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609027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결과 대조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항목 수정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98080" y="1791907"/>
            <a:ext cx="1005840" cy="301752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498080" y="1791907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최우선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85683"/>
            <a:ext cx="8412480" cy="667512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322259"/>
            <a:ext cx="155448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KC(지식개념) 태깅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2322259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기준으로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분류 추천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322259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결과 검토·확정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잘못된 태그 수정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2505139"/>
            <a:ext cx="1005840" cy="3017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2505139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035491"/>
            <a:ext cx="841248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457200" y="3035491"/>
            <a:ext cx="155448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문항 탐지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3035491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DB와 비교하여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중복·유사 문항 표시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035491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중복 여부 판단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폐기·수정 결정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3218371"/>
            <a:ext cx="1005840" cy="3017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7498080" y="3218371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748723"/>
            <a:ext cx="8412480" cy="667512"/>
          </a:xfrm>
          <a:prstGeom prst="rect">
            <a:avLst/>
          </a:prstGeom>
          <a:solidFill>
            <a:srgbClr val="EDF1F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457200" y="3748723"/>
            <a:ext cx="155448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품질 검증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3748723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정답 오류, 선지 모순,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불일치 탐지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748723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지적 사항 확인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수정·승인 결정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3931603"/>
            <a:ext cx="1005840" cy="30175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7498080" y="3931603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우선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461955"/>
            <a:ext cx="8412480" cy="6675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457200" y="4461955"/>
            <a:ext cx="155448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생성 (차후)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461955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조건에 맞는 지문·선지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·해설 초안 생성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63440" y="4461955"/>
            <a:ext cx="2560320" cy="667512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초안 검토·수정·승인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미달 시 반려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98080" y="4644835"/>
            <a:ext cx="1005840" cy="3017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7498080" y="4644835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후순위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017520" y="88321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모든 AI 결과물은 사람 검수를 거쳐야 서비스에 반영됩니다. 검수 없이 나가는 것은 없습니다.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검수 체계: 누가, 언제, 어떻게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결과를 그냥 쓴다"는 오해를 해소합니다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600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처리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/ 태깅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 수행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3246120"/>
            <a:ext cx="868680" cy="2560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9436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endParaRPr lang="en-US" sz="9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1645920"/>
            <a:ext cx="164592" cy="1645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011680" y="1371600"/>
            <a:ext cx="1600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514600" y="15087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25146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01168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교차 검증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01168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AI 모델이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 재검증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377440" y="3246120"/>
            <a:ext cx="868680" cy="2560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237744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endParaRPr lang="en-US" sz="9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645920"/>
            <a:ext cx="164592" cy="164592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794760" y="1371600"/>
            <a:ext cx="1600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0"/>
          <p:cNvSpPr/>
          <p:nvPr/>
        </p:nvSpPr>
        <p:spPr>
          <a:xfrm>
            <a:off x="429768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1"/>
          <p:cNvSpPr/>
          <p:nvPr/>
        </p:nvSpPr>
        <p:spPr>
          <a:xfrm>
            <a:off x="379476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검수자 배정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379476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담당자에게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할당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160520" y="3246120"/>
            <a:ext cx="868680" cy="256032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4"/>
          <p:cNvSpPr/>
          <p:nvPr/>
        </p:nvSpPr>
        <p:spPr>
          <a:xfrm>
            <a:off x="416052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endParaRPr lang="en-US" sz="9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45920"/>
            <a:ext cx="164592" cy="164592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5577840" y="1371600"/>
            <a:ext cx="1600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6080760" y="1508760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60807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28"/>
          <p:cNvSpPr/>
          <p:nvPr/>
        </p:nvSpPr>
        <p:spPr>
          <a:xfrm>
            <a:off x="557784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검수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557784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항목별 확인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수정/승인/반려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943600" y="3246120"/>
            <a:ext cx="868680" cy="256032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/>
          <p:nvPr/>
        </p:nvSpPr>
        <p:spPr>
          <a:xfrm>
            <a:off x="594360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</a:t>
            </a:r>
            <a:endParaRPr lang="en-US" sz="900" dirty="0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645920"/>
            <a:ext cx="164592" cy="16459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7360920" y="1371600"/>
            <a:ext cx="16002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7863840" y="15087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4"/>
          <p:cNvSpPr/>
          <p:nvPr/>
        </p:nvSpPr>
        <p:spPr>
          <a:xfrm>
            <a:off x="786384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Text 35"/>
          <p:cNvSpPr/>
          <p:nvPr/>
        </p:nvSpPr>
        <p:spPr>
          <a:xfrm>
            <a:off x="736092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기록</a:t>
            </a:r>
            <a:endParaRPr lang="en-US" sz="1300" dirty="0"/>
          </a:p>
        </p:txBody>
      </p:sp>
      <p:sp>
        <p:nvSpPr>
          <p:cNvPr id="42" name="Text 36"/>
          <p:cNvSpPr/>
          <p:nvPr/>
        </p:nvSpPr>
        <p:spPr>
          <a:xfrm>
            <a:off x="7360920" y="251460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누가·언제 검수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전부 보존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7726680" y="3246120"/>
            <a:ext cx="868680" cy="25603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8"/>
          <p:cNvSpPr/>
          <p:nvPr/>
        </p:nvSpPr>
        <p:spPr>
          <a:xfrm>
            <a:off x="7726680" y="32461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365760" y="3886200"/>
            <a:ext cx="8412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0"/>
          <p:cNvSpPr/>
          <p:nvPr/>
        </p:nvSpPr>
        <p:spPr>
          <a:xfrm>
            <a:off x="365760" y="3886200"/>
            <a:ext cx="73152" cy="100584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1"/>
          <p:cNvSpPr/>
          <p:nvPr/>
        </p:nvSpPr>
        <p:spPr>
          <a:xfrm>
            <a:off x="640080" y="3931920"/>
            <a:ext cx="7955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검수 이력 관리: 어떤 문항을, 누가, 언제, 어떤 판정(승인/반려/수정)을 내렸는지 전부 기록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AI 교차 검증: 생성에 쓴 AI와 다른 AI가 결과물을 재검증 — 한쪽 AI만 믿지 않음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반려 시 재처리: 사람이 반려하면 수정 후 다시 검수 프로세스를 탐 — 자동 통과 없음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"하네스"란 무엇인가?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정해진 규격대로 움직이게 하는 통제 체계입니다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= AI의 입력·출력·검증을 통제하는 관리 체계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AI에게 "무엇을, 어떤 규격으로, 어떤 조건에서" 처리하라고 지시하고,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결과물이 규격에 맞는지 검증하고, 사람에게 넘기고, 이력을 기록합니다.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공장의 품질관리(QC) 라인 + 작업 지시서와 같은 역할입니다.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60120" y="2971800"/>
            <a:ext cx="685800" cy="68580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3090672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004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규격 통제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뷰어 포맷, 데이터 통신 규격,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규격을 AI에게 지시.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규격 밖 출력은 자동 거부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514600" y="28803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3154680" y="2971800"/>
            <a:ext cx="685800" cy="68580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309067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내용 규격 통제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60604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단원·난이도·KC 등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교육과정 체계에 맞는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조건만 허용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09160" y="28803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6"/>
          <p:cNvSpPr/>
          <p:nvPr/>
        </p:nvSpPr>
        <p:spPr>
          <a:xfrm>
            <a:off x="5349240" y="2971800"/>
            <a:ext cx="685800" cy="6858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112" y="3090672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검증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80060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결과를 다른 AI가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 + 사람이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승인/반려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903720" y="288036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543800" y="2971800"/>
            <a:ext cx="685800" cy="68580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3090672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903720" y="3749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이력 관리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6995160" y="4069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누가·언제·어떤 AI로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처리했는지, 비용·품질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전부 기록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하네스가 있으면 뭐가 달라지나?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전사 AI 콘텐츠 생산의 기반이 됩니다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체계 없이 AI를 쓰면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74520"/>
            <a:ext cx="3703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각자가 ChatGPT 등으로 알아서 생성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결과물 포맷이 제각각 (Word, 텍스트, 이미지 등)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생성된 내용을 다시 저작도구에 수작업 입력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품질 검증 없음 — 오류가 서비스까지 도달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누가 뭘 만들었는지 이력 관리 불가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274320" cy="2743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754880" y="128016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754880" y="1280160"/>
            <a:ext cx="393192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 체계를 통해 AI를 쓰면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029200" y="18745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정해진 규격(포맷·단원·난이도·KC)에 맞게 생성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결과물이 곧바로 DB에 구조화 저장 (재입력 불필요)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AI 교차 검증 → 사람 검수 → 승인 후에만 반영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오류가 서비스에 나가기 전에 차단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전 과정 이력 관리 (감사 추적 가능)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886200"/>
            <a:ext cx="8229600" cy="10515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하네스를 만드는가?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1520" y="42519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</a:rPr>
              <a:t>문항서비스에서 검증된 하네스 체계는, 향후 전사 AI 콘텐츠 생산(교재·참고서·학습자료)의 표준 관리 기반이 됩니다.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94A3B8"/>
                </a:solidFill>
              </a:rPr>
              <a:t>지금 문항에서 기술 규격·내용 규격·검수 체계를 확립하면, 다른 콘텐츠에도 동일한 체계를 확장할 수 있습니다.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기획과 개발, 무엇이 정해지고 무엇이 남았나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3931920" cy="54864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영역 (개발이 준비하는 것)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HWP/Word → 구조화 DB 변환 엔진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AI 검증·분류 파이프라인 (하네스)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검수 워크플로우 시스템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CBT 시험 엔진 (자동저장·채점)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리포팅·분석 엔진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문항DB·KC 체계 인프라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"도구와 배관"을 만드는 영역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ko-KR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기획에서 </a:t>
            </a:r>
            <a:r>
              <a:rPr lang="en-US" sz="15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결정할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것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어떤 과목·학년부터 시작할 것인가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문항 분류 체계 (KC) 최종 확정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검수 기준·절차 (무엇이 합격인가)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서비스 시나리오 (교사·학생 경험)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출제 정책 (난이도 배분, 유형 비율)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우선순위 (어떤 기능부터 오픈할지)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4297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"무엇을, 어떻게 쓸지" 결정하는 영역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전체 구조 — 3대 모듈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문항저작 → 통합관리 → 출제/리포팅, 피드백 루프까지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F16378C9-01B4-E78C-6847-E18506C0B3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73" y="1157424"/>
            <a:ext cx="8238653" cy="38946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1  문항 변환·등록 프로세스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HWP/Word 문항을 DB에 등록하는 핵심 과정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731520" y="1527048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3152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2860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업로드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2514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HWP/Word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등록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232" y="1673352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011680" y="141732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514600" y="152704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251460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01168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구조 분석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011680" y="2514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지문·선지·정답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·해설 자동 분리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9312" y="1673352"/>
            <a:ext cx="164592" cy="164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794760" y="141732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4297680" y="1527048"/>
            <a:ext cx="548640" cy="54864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429768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79476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교차 검증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794760" y="2514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결과를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AI로 재확인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73352"/>
            <a:ext cx="164592" cy="16459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5577840" y="141732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6080760" y="1527048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608076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557784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검수자 확인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577840" y="2514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사람이 원본 대조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오류 수정·승인</a:t>
            </a:r>
            <a:endParaRPr lang="en-US" sz="11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1673352"/>
            <a:ext cx="164592" cy="164592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7360920" y="1417320"/>
            <a:ext cx="1600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5"/>
          <p:cNvSpPr/>
          <p:nvPr/>
        </p:nvSpPr>
        <p:spPr>
          <a:xfrm>
            <a:off x="7863840" y="1527048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/>
          <p:nvPr/>
        </p:nvSpPr>
        <p:spPr>
          <a:xfrm>
            <a:off x="7863840" y="15270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3" name="Text 27"/>
          <p:cNvSpPr/>
          <p:nvPr/>
        </p:nvSpPr>
        <p:spPr>
          <a:xfrm>
            <a:off x="7360920" y="2148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등록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7360920" y="251460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 자동 태깅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완료 후 등록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365760" y="3703320"/>
            <a:ext cx="8412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365760" y="3703320"/>
            <a:ext cx="73152" cy="11887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1"/>
          <p:cNvSpPr/>
          <p:nvPr/>
        </p:nvSpPr>
        <p:spPr>
          <a:xfrm>
            <a:off x="64008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변환에 AI가 필요한가?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40080" y="40690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수학 문항의 수식, 이미지, 표 등은 단순 복사로는 옮길 수 없음 — AI가 구조를 분석하여 분리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AI가 1차 변환 + 다른 AI가 교차 검증하여 사람이 확인할 분량을 최소화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사람이 전부 수작업으로 하면 수만 건 변환에 수개월 소요 — AI로 80% 자동화, 사람은 20% 검수에 집중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2  출제 · 시험 · 채점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DB에 등록된 문항으로 시험을 편성하고 학생에게 전달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960120" y="1554480"/>
            <a:ext cx="640080" cy="64008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편성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과목·단원·난이도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조건으로 문항 선택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자동 편성</a:t>
            </a:r>
            <a:endParaRPr lang="en-US" sz="12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173736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1460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3108960" y="15544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310896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251460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시험지 확정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51460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미리보기 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순서·배점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확정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737360"/>
            <a:ext cx="182880" cy="1828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66344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5"/>
          <p:cNvSpPr/>
          <p:nvPr/>
        </p:nvSpPr>
        <p:spPr>
          <a:xfrm>
            <a:off x="5257800" y="1554480"/>
            <a:ext cx="640080" cy="640080"/>
          </a:xfrm>
          <a:prstGeom prst="ellipse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/>
          <p:nvPr/>
        </p:nvSpPr>
        <p:spPr>
          <a:xfrm>
            <a:off x="525780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466344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배포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66344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온라인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인쇄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배포</a:t>
            </a:r>
            <a:endParaRPr lang="en-US" sz="12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737360"/>
            <a:ext cx="182880" cy="18288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812280" y="1417320"/>
            <a:ext cx="192024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0"/>
          <p:cNvSpPr/>
          <p:nvPr/>
        </p:nvSpPr>
        <p:spPr>
          <a:xfrm>
            <a:off x="7406640" y="1554480"/>
            <a:ext cx="640080" cy="640080"/>
          </a:xfrm>
          <a:prstGeom prst="ellipse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740664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6812280" y="2286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응시·채점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812280" y="265176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학생 실시간 응시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저장 (3중)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자동 채점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365760" y="3931920"/>
            <a:ext cx="8412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365760" y="3931920"/>
            <a:ext cx="73152" cy="9144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6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불변 스냅샷: 시험 배포 시점의 문항을 고정 — 원본 수정해도 이미 나간 시험은 변하지 않음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3중 자동 저장: 응시 중 브라우저 종료·네트워크 끊김에도 답안 보존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91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Flow 3  리포팅 · 분석 · 추천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결과를 분석하고 다음 학습으로 연결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73152" cy="146304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결과 수집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문항별 정답률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시간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오답 패턴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137160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0" y="137160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257800" y="1463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분석 리포트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5780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성취도 분석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학급 통계 비교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KC별 취약점 진단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029200" y="3108960"/>
            <a:ext cx="73152" cy="1463040"/>
          </a:xfrm>
          <a:prstGeom prst="rect">
            <a:avLst/>
          </a:prstGeom>
          <a:solidFill>
            <a:srgbClr val="2E6DB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25780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 자동 보정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5780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응답 데이터 기반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문항 난이도 재산정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(데이터 기반 객관 산출)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73152" cy="146304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85800" y="3200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맞춤 추천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35661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취약 KC 기반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보충 문항 추천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학습 안내</a:t>
            </a:r>
            <a:endParaRPr lang="en-US" sz="12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82880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665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▼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48056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6DB4"/>
                </a:solidFill>
              </a:rPr>
              <a:t>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219456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891B2"/>
                </a:solidFill>
              </a:rPr>
              <a:t>▲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069080" y="2571750"/>
            <a:ext cx="1115568" cy="72009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3703320" y="23774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피드백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루프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정리: 이 프로젝트가 만드는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3152" cy="777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05840" y="1234440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058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37360" y="11430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HWP 문항 자산을 구조화 DB로 전환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5361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 우선 — AI 생성 없이도 서비스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11680"/>
            <a:ext cx="7680960" cy="77724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731520" y="2011680"/>
            <a:ext cx="73152" cy="777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5840" y="2148840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37360" y="2057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검증·분류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쌍둥이문항 등</a:t>
            </a:r>
            <a:r>
              <a:rPr lang="en-US" altLang="ko-K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 사람의 반복 작업을 줄임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사람은 판단·검수에 집중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926080"/>
            <a:ext cx="7680960" cy="77724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73152" cy="777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1005840" y="3063240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10058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37360" y="29718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AI 결과는 검수 체계를 통과해야 반영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3649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누가·언제 검수했는지 기록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3152" cy="77724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005840" y="3977640"/>
            <a:ext cx="502920" cy="50292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100584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37360" y="3886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출제·시험·리포팅까지 하나의 플랫폼에서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42793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분절된 프로세스를 통합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동아출판 디지털전략본부  |  2026.04 ~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1323</Words>
  <Application>Microsoft Office PowerPoint</Application>
  <PresentationFormat>On-screen Show (16:9)</PresentationFormat>
  <Paragraphs>272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문항서비스 소개</dc:title>
  <dc:subject>PptxGenJS Presentation</dc:subject>
  <dc:creator>동아출판 디지털전략본부</dc:creator>
  <cp:lastModifiedBy>김종희(Kim Jonghee) 본부장</cp:lastModifiedBy>
  <cp:revision>3</cp:revision>
  <dcterms:created xsi:type="dcterms:W3CDTF">2026-03-30T06:32:41Z</dcterms:created>
  <dcterms:modified xsi:type="dcterms:W3CDTF">2026-04-02T09:03:09Z</dcterms:modified>
</cp:coreProperties>
</file>