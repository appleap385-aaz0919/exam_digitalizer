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30238-251D-4EFC-BAEA-A6294898A245}" type="datetimeFigureOut">
              <a:t>2026-04-02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C58DB-DF94-4281-942D-76AFC6A04D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10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문항서비스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개발자 · 기획자를 위한 기술 가이드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하는가  |  설계 원칙  |  서비스 Flow  |  착수 전 결정사항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문항서비스, 한마디로?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54864" cy="1280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0515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포맷의 기존 문항을 구조화된 DB로 전환하고,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활용해 분류·검증·출제·분석까지 하나로 잇는 시스템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54864" cy="2011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260604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누구를 위해?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 — 출제·리포팅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 — 시험·피드백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문항개발자 — 저작·검수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4688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2468880"/>
            <a:ext cx="54864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2468880"/>
            <a:ext cx="260604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468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필요한가?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포맷 → 재활용 불가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분류·검색이 안 됨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검증이 수작업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468880"/>
            <a:ext cx="54864" cy="2011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2468880"/>
            <a:ext cx="26060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468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접근?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기존 문항 변환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AI 검증·분류 보조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AI 생성 (검수 후)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상태 — 3가지 구조적 한계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2926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포맷이 콘텐츠 이동과 서비스를 막는다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HWP·Word 등 복합 포맷 → 검색·재활용·분석 불가.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문항을 반복 제작하는 비효율.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 개정 시 전수 재작업 발생.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축적된 자산이 서비스로 연결되지 못하는 구조.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54864" cy="2926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분류 · 품질 관리 부재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74720" y="20574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매핑, 난이도 태깅이 모두 수작업.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기준이 담당자마다 달라 일관성 없음.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간 유사도 파악 불가 — 중복 양산.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 체계 없이 서비스에 반영.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54864" cy="2926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 도구가 너무 복잡하다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20574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일일이 수정 가능한 도구 → 진입장벽 높음.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기획자가 직접 사용하기 어려움.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휴먼에러 다발 (포맷 불일치, 메타 누락).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출제~풀이~리포팅 프로세스 분절.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문항 자산을 구조화하고, 도구를 단순화하고, AI로 반복 작업을 자동화해야 한다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지금 해야 하는가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54864" cy="2560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914400"/>
            <a:ext cx="260604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28개정(예정) 대응 준비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417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22개정은 이미 적용 완료.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교육과정 개정(28예정) 시 또다시 전수 재작업?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구조화해 두면 개정 대응이 자동화.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대비하지 않으면 부채만 누적.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914400"/>
            <a:ext cx="54864" cy="2560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914400"/>
            <a:ext cx="260604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가능 시점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417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성능이 K12 문항 생성/분석 수준 도달.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 전에는 불가능했던 자동 분류·생성이 가능.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투자 시 경쟁 우위 확보.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54864" cy="2560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914400"/>
            <a:ext cx="26060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플랫폼 한계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417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현행 시스템으로는 요구 수용 불가.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확장이 아닌 신규 구축이 합리적.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체계를 갖추면 전사 AI 콘텐츠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기반으로 확장 가능.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03320"/>
            <a:ext cx="54864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체계의 전사 확장 가치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문항서비스에서 검증된 콘텐츠 하네스(규격 통제 + 품질 검증 + 이력 관리)는 향후 교재·참고서·학습자료 등 전사 AI 콘텐츠 생산의 표준 관리 기반이 된다.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문항에서 체계를 확립하면 다른 콘텐츠 영역에도 동일한 체계를 확장할 수 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접근 전략: 변환 먼저, 생성은 나중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"처음부터 AI가 문항을 만드는 게 아닙니다"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05840"/>
            <a:ext cx="54864" cy="3291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 기존 8만 건 변환 (최우선)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3520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HWP/Word → 구조화 DB 전환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문항 수식(LaTeX) 변환이 핵심 난제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한컴 SDK(상용 솔루션) 기반 변환 + 사람 확인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축적된 자산 활용 — AI 생성 없이도 서비스 기반 확보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규격 확정이 전제조건 (온라인 뷰어, 인쇄 포맷)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54864" cy="1463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 AI 검증 · 분류 보조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KC(지식개념) 자동 태깅 → 사람 확인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문항 탐지 → 중복 제거, 문항 분포 분석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예측 (정답률 기반 동적 보정)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6517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651760"/>
            <a:ext cx="54864" cy="1645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2651760"/>
            <a:ext cx="40233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651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 AI 생성 (검수 전제)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0632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변환·검증 체계가 안정된 후에 시도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결과는 반드시 사람 검수 통과 후 등록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없이 서비스에 나가는 문항은 없음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체계: 모든 AI 산출물에 규격·검증·이력 적용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전체 구조 — 3대 모듈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문항저작 → 통합관리 → 출제/리포팅, 피드백 루프까지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00584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문항저작툴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Tool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2286000" cy="3657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783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476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한컴 SDK 기반 HWP 변환 · OCR · 포맷 정규화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221992"/>
            <a:ext cx="2286000" cy="3657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219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3865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 기반 저작 · 미디어 첨부 · LaTeX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2286000" cy="3657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609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8254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문항생성 · 형식변환 · 해설자동화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3099816"/>
            <a:ext cx="2286000" cy="3657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998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Pipeline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2644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검사 · 품질 검수 · 이력 추적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2286000" cy="411480"/>
          </a:xfrm>
          <a:prstGeom prst="rect">
            <a:avLst/>
          </a:prstGeom>
          <a:solidFill>
            <a:srgbClr val="D4E6F1"/>
          </a:solidFill>
          <a:ln w="12700">
            <a:solidFill>
              <a:srgbClr val="85C1E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02920" y="3630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(3단계) / 표준 (7단계)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LCMS 워크플로우 → 승인 후 등록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22960" y="41148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문항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260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926080" y="2011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9184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1005840"/>
            <a:ext cx="54864" cy="3474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Shape 31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통합문항관리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91840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LCMS + KC Metatag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0" y="1783080"/>
            <a:ext cx="2286000" cy="365760"/>
          </a:xfrm>
          <a:prstGeom prst="rect">
            <a:avLst/>
          </a:prstGeom>
          <a:solidFill>
            <a:srgbClr val="EAFAF1"/>
          </a:solidFill>
          <a:ln/>
        </p:spPr>
      </p:sp>
      <p:sp>
        <p:nvSpPr>
          <p:cNvPr id="37" name="Text 35"/>
          <p:cNvSpPr/>
          <p:nvPr/>
        </p:nvSpPr>
        <p:spPr>
          <a:xfrm>
            <a:off x="3566160" y="1783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저장소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66160" y="19476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버전관리 · Soft Delete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474720" y="2221992"/>
            <a:ext cx="2286000" cy="365760"/>
          </a:xfrm>
          <a:prstGeom prst="rect">
            <a:avLst/>
          </a:prstGeom>
          <a:solidFill>
            <a:srgbClr val="EAFAF1"/>
          </a:solidFill>
          <a:ln/>
        </p:spPr>
      </p:sp>
      <p:sp>
        <p:nvSpPr>
          <p:cNvPr id="40" name="Text 38"/>
          <p:cNvSpPr/>
          <p:nvPr/>
        </p:nvSpPr>
        <p:spPr>
          <a:xfrm>
            <a:off x="3566160" y="22219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Metatag 체계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66160" y="23865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교육과정→단원→성취기준→KC 매핑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474720" y="2660904"/>
            <a:ext cx="2286000" cy="365760"/>
          </a:xfrm>
          <a:prstGeom prst="rect">
            <a:avLst/>
          </a:prstGeom>
          <a:solidFill>
            <a:srgbClr val="EAFAF1"/>
          </a:solidFill>
          <a:ln/>
        </p:spPr>
      </p:sp>
      <p:sp>
        <p:nvSpPr>
          <p:cNvPr id="43" name="Text 41"/>
          <p:cNvSpPr/>
          <p:nvPr/>
        </p:nvSpPr>
        <p:spPr>
          <a:xfrm>
            <a:off x="3566160" y="26609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엔진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66160" y="28254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CDC · pgvector 유사도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474720" y="3099816"/>
            <a:ext cx="2286000" cy="365760"/>
          </a:xfrm>
          <a:prstGeom prst="rect">
            <a:avLst/>
          </a:prstGeom>
          <a:solidFill>
            <a:srgbClr val="EAFAF1"/>
          </a:solidFill>
          <a:ln/>
        </p:spPr>
      </p:sp>
      <p:sp>
        <p:nvSpPr>
          <p:cNvPr id="46" name="Text 44"/>
          <p:cNvSpPr/>
          <p:nvPr/>
        </p:nvSpPr>
        <p:spPr>
          <a:xfrm>
            <a:off x="3566160" y="30998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관리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566160" y="32644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Per-attempt Decay · 동적 가중치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474720" y="3611880"/>
            <a:ext cx="2286000" cy="411480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3520440" y="3630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3중 매핑 구조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ITEM↔KC · ITEM↔UNIT · ITEM↔META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840480" y="41148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51" name="Text 49"/>
          <p:cNvSpPr/>
          <p:nvPr/>
        </p:nvSpPr>
        <p:spPr>
          <a:xfrm>
            <a:off x="38404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가능 문항 Pool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436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5943600" y="2011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30936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09360" y="1005840"/>
            <a:ext cx="54864" cy="3474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6" name="Shape 54"/>
          <p:cNvSpPr/>
          <p:nvPr/>
        </p:nvSpPr>
        <p:spPr>
          <a:xfrm>
            <a:off x="6309360" y="1005840"/>
            <a:ext cx="265176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7" name="Text 55"/>
          <p:cNvSpPr/>
          <p:nvPr/>
        </p:nvSpPr>
        <p:spPr>
          <a:xfrm>
            <a:off x="630936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출제마법사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309360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Wizard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92240" y="1783080"/>
            <a:ext cx="2286000" cy="365760"/>
          </a:xfrm>
          <a:prstGeom prst="rect">
            <a:avLst/>
          </a:prstGeom>
          <a:solidFill>
            <a:srgbClr val="F5EEF8"/>
          </a:solidFill>
          <a:ln/>
        </p:spPr>
      </p:sp>
      <p:sp>
        <p:nvSpPr>
          <p:cNvPr id="60" name="Text 58"/>
          <p:cNvSpPr/>
          <p:nvPr/>
        </p:nvSpPr>
        <p:spPr>
          <a:xfrm>
            <a:off x="6583680" y="1783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Selector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3680" y="19476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기반 자동추천 · 수동 선별 · 커버리지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492240" y="2221992"/>
            <a:ext cx="2286000" cy="365760"/>
          </a:xfrm>
          <a:prstGeom prst="rect">
            <a:avLst/>
          </a:prstGeom>
          <a:solidFill>
            <a:srgbClr val="F5EEF8"/>
          </a:solidFill>
          <a:ln/>
        </p:spPr>
      </p:sp>
      <p:sp>
        <p:nvSpPr>
          <p:cNvPr id="63" name="Text 61"/>
          <p:cNvSpPr/>
          <p:nvPr/>
        </p:nvSpPr>
        <p:spPr>
          <a:xfrm>
            <a:off x="6583680" y="22219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연동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83680" y="23865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· 응시관리 · 3중 저장 · 타이머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492240" y="2660904"/>
            <a:ext cx="2286000" cy="365760"/>
          </a:xfrm>
          <a:prstGeom prst="rect">
            <a:avLst/>
          </a:prstGeom>
          <a:solidFill>
            <a:srgbClr val="F5EEF8"/>
          </a:solidFill>
          <a:ln/>
        </p:spPr>
      </p:sp>
      <p:sp>
        <p:nvSpPr>
          <p:cNvPr id="66" name="Text 64"/>
          <p:cNvSpPr/>
          <p:nvPr/>
        </p:nvSpPr>
        <p:spPr>
          <a:xfrm>
            <a:off x="6583680" y="26609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/ CBT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583680" y="28254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수식렌더링 · 미디어재생 · SSE Fallback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492240" y="3099816"/>
            <a:ext cx="2286000" cy="365760"/>
          </a:xfrm>
          <a:prstGeom prst="rect">
            <a:avLst/>
          </a:prstGeom>
          <a:solidFill>
            <a:srgbClr val="F5EEF8"/>
          </a:solidFill>
          <a:ln/>
        </p:spPr>
      </p:sp>
      <p:sp>
        <p:nvSpPr>
          <p:cNvPr id="69" name="Text 67"/>
          <p:cNvSpPr/>
          <p:nvPr/>
        </p:nvSpPr>
        <p:spPr>
          <a:xfrm>
            <a:off x="6583680" y="30998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/ Reporting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583680" y="32644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PDF(HWP) 생성 · 채점 · 학급 분석 · KC 히트맵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492240" y="3611880"/>
            <a:ext cx="2286000" cy="411480"/>
          </a:xfrm>
          <a:prstGeom prst="rect">
            <a:avLst/>
          </a:prstGeom>
          <a:solidFill>
            <a:srgbClr val="EBDEF0"/>
          </a:solidFill>
          <a:ln w="12700">
            <a:solidFill>
              <a:srgbClr val="C39BD3"/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6537960" y="3630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시점 문항 버전 고정 · 버전 알림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858000" y="41148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74" name="Text 72"/>
          <p:cNvSpPr/>
          <p:nvPr/>
        </p:nvSpPr>
        <p:spPr>
          <a:xfrm>
            <a:off x="685800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성과 데이터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286000" y="4480560"/>
            <a:ext cx="5029200" cy="20116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76" name="Text 74"/>
          <p:cNvSpPr/>
          <p:nvPr/>
        </p:nvSpPr>
        <p:spPr>
          <a:xfrm>
            <a:off x="2286000" y="44622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난이도 재산정 + DKT 숙달도 피드백 루프 →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463040"/>
            <a:ext cx="457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설계 핵심 원칙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Invisible/Presentation Layer 분리, AI 저작, 2-Tier DB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설계 원칙 — Invisible Layer / Presentation Layer 분리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저작 도구의 복잡성과 휴먼에러를 근본적으로 해소하는 구조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54864" cy="14630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60120"/>
            <a:ext cx="1371600" cy="2743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960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280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도구가 데이터+표현을 동시 처리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554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기획자가 직접 사용하기 어려운 복잡한 UI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포맷 불일치, 메타 누락 등 휴먼에러 다발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서비스에만 대응 — 다른 채널 재작업 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54864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960120"/>
            <a:ext cx="137160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960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방식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280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Layer와 Presentation Layer 분리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554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데이터/통신 = 규격(스펙) 기반 AI 처리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표현/렌더링 = 템플릿/모범답안 기반 AI 처리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기획자는 조건 설정 + 결과 검수에 집중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51760"/>
            <a:ext cx="54864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651760"/>
            <a:ext cx="393192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Layer (데이터 · 통신 · 규격)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06324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structured_md 원소스 포맷 (Markdown + KaTeX)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Schema로 입출력 규격 강제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규격 밖 출력 시 자동 거부 + 재시도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메타데이터 N:M 매핑, KC 자동 태깅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처리 이력 기록 (감사 추적)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하네스의 '기술 규격 통제' + '이력 관리'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651760"/>
            <a:ext cx="54864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651760"/>
            <a:ext cx="393192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(표현 · 렌더링 · 뷰어)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06324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템플릿/모범답안 기반 렌더링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CBT 뷰어, PDF 인쇄, 모바일 — 채널별 빌드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과목별 레이아웃 템플릿 (수학: 수식슬롯, 영어: 음성슬롯)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템플릿 기반으로 표현을 자동 생성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빌드: structured_md → 채널별 최적 포맷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00" b="1" dirty="0">
                <a:solidFill>
                  <a:srgbClr val="D48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하네스의 '내용 규격 통제' + '품질 검증'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저작 도구 — 왜 이 방식인가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도구를 제공하는 대신, AI에게 규격과 템플릿을 주고 사람은 판단에 집중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1828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1645920" cy="2743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914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 수동 저작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2801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 직접 문항 작성 (1일 20~30건)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유사문항 검색 보조 1가지만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HWP/Word 편집 → 수동 메타 태깅 → 수동 검수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도구 UI로 진입장벽 높고, 에러 다발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54864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914400"/>
            <a:ext cx="164592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914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신규: AI 생성+큐레이션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2801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조건 기반 문항 후보 N배수 생성 (1일 100~200건 검토)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5개 파이프라인: 생성/변환/해설/KC추천/유사도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역할 전환: 창작자 → 큐레이터/에디터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모든 AI 산출물은 사람 검수 후 확정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저작의 3가지 원칙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54864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기반 처리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36393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입출력을 JSON Schema + structured_md 규격으로 통제.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밖 출력은 자동 거부.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버전 관리 + A/B 테스트.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32918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3291840"/>
            <a:ext cx="54864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 기반 표현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29000" y="36393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과목별 레이아웃 템플릿 적용.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모범답안 패턴 참조하여 렌더링.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수식(KaTeX), 미디어 슬롯 자동 배치.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32918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3291840"/>
            <a:ext cx="54864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검증 + 검수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63640" y="36393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AI ≠ 검증 AI (cross-model).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AI-QA 자동 검증 후 사람 교차 검수.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야간 전수 재검증 (02:00 KST).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2-Tier DB 구조 — Master vs 배포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단일 서비스 DB를 문항개발과 서비스 제공으로 분리하는 이유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분리하는가?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기존에는 하나의 DB가 문항 개발과 학생 서비스를 동시 담당 → 저작 작업이 서비스 성능에 영향, 배포 시점 문항 고정 불가, 서비스별 메타 최적화 불가.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Master(저작·분석)와 배포(서비스)를 분리하면 각각의 목적에 최적화된 구조를 가져갈 수 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54864" cy="2697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11680"/>
            <a:ext cx="39319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DB — 문항 개발자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468880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원본 + 버전 이력 관리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structured_md 포맷으로 저작·저장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분석 + 문항 분포 분석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임베딩, 중복 탐지, KC별 분포 파악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문항 생성 + 메타 자동 태깅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 다중 메타 체계 (22개정 + 향후 개정 동시 태깅)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자동 추천 → 사람 확인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LCMS 워크플로우 (검수 체계 내장)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AI생성→채택→검수→승인→배포가능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51960" y="2926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16052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2011680"/>
            <a:ext cx="393192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011680"/>
            <a:ext cx="54864" cy="2697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011680"/>
            <a:ext cx="39319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DB — 서비스 영역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468880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최적화 배포 체계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원소스 멀티유즈: web_cbt, print_pdf, mobile, api_json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시점 문항 고정 — 원본 수정해도 시험 불변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서비스별 메타 변형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서비스(시험, 자학습, 참고서 등)에 맞게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메타를 변형하여 fit한 서비스 제공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응답 + 확장성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+ Redis 캐시, Read Replica 확장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 — 분석 · 생성 · 메타 자동화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면밀한 분석 기반 위에서 새로운 문항을 만들고, 정교하게 분류한다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3200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192024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914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· 분포 분석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1371600"/>
            <a:ext cx="1691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임베딩으로 문항 간 거리 측정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유사도 / 내용 유사도 분리 평가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문항 자동 탐지 및 경고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KC별 문항 분포 시각화 → 부족 영역 식별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9144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914400"/>
            <a:ext cx="54864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914400"/>
            <a:ext cx="192024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914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문항 생성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15768" y="1371600"/>
            <a:ext cx="1691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단원·KC·난이도·유형 조건 입력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AI가 문항+정답 후보 N배수 생성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변환 (선다형↔서술형↔단답형)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해설 자동 생성 (단계별 풀이)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14400"/>
            <a:ext cx="54864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914400"/>
            <a:ext cx="19202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914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자동 태깅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1371600"/>
            <a:ext cx="1691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KC(지식개념) 자동 추천 (Claude)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KC 풀 내에서 1~3개 추천+confidence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교육과정·교재·과목 다중 태깅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22개정↔향후 개정 교차 매핑 지원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03720" y="9144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914400"/>
            <a:ext cx="54864" cy="3200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6903720" y="914400"/>
            <a:ext cx="192024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914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 체계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13448" y="1371600"/>
            <a:ext cx="1691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AI-QA: 생성 AI ≠ 검증 AI (cross-model)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전제: 데이터 완전성 + 교차검증 + AI-QA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야간 전수 재검증 (02:00 KST)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과정 이력 기록 (감사 추적 가능)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159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8만 건 기존 자산을 구조화한 뒤, 유사도·분포를 분석하고, 부족한 영역에 AI로 문항을 채우고, 메타를 자동 태깅하는 선순환 체계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배포 — 서비스 최적화 Delivery 체계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원소스에서 채널별로 빌드하여 빠르게 서비스에 반영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빌드 파이프라인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82880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structured_md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(원소스)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280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1280160"/>
            <a:ext cx="164592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워커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1280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0" y="1051560"/>
            <a:ext cx="11887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051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web_cbt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1051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시험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0" y="1554480"/>
            <a:ext cx="11887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554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print_pdf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인쇄용 출력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2057400"/>
            <a:ext cx="11887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057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앱/반응형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2560320"/>
            <a:ext cx="11887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api_json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연동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00400"/>
            <a:ext cx="54864" cy="1463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서비스별 메타 변형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Master의 N:M 메타 체계에서 각 서비스에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메타만 선별·변형하여 적재.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시험 서비스: 난이도+KC+유형 중심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자학습 서비스: KC+취약점+추천순위 중심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참고서 연동: 교재+단원+페이지 매핑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20040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 원칙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시점 문항 버전을 고정 참조.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수정해도 이미 나간 시험은 불변.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 재배포 시 새 빌드 → 새 배포 생성.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예외: allow_hot_update 플래그로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명시 승인 시에만 갱신 허용 (오타 등)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하네스 체계 — 콘텐츠 품질을 보장하는 통제 구조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정해진 규격대로 움직이게 하는 관리 체계. 공장의 QC 라인 + 작업 지시서 역할.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3383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260604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규격 통제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41732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 체계에 맞는 조건만 허용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단원·난이도·KC 등 필수 메타 강제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유형별 필수 필드 검증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학년 수준에 맞는 내용 여부 확인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콘텐츠 기획자의 품질 기준을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시스템이 자동으로 적용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91440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914400"/>
            <a:ext cx="54864" cy="3383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914400"/>
            <a:ext cx="260604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 체계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교차 검증 (생성 AI ≠ 검증 AI)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+ 수식 유효성 검사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정답-보기 일관성 자동 검사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임계치 초과 시 경고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검수자(사람) 최종 승인 후에만 반영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승인자 ≠ 생성자 (self-approve 차단)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14400"/>
            <a:ext cx="54864" cy="3383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914400"/>
            <a:ext cx="26060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이력 관리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41732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누가·언제·어떤 AI로 생성했는지 기록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판정(승인/반려/수정) 이력 전부 보존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버전별 품질 추적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비용·토큰·응답시간 집계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추적(audit trail) 가능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발생 시 원인 역추적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= Invisible Layer의 규격 통제 + Presentation Layer의 품질 보장을 실현하는 운영 체계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463040"/>
            <a:ext cx="457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Flow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3대 모듈: 저작 → 통합관리 → 출제/리포팅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1. 문항 저작 / 등록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9601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9601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9144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조건 설정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93192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교육과정/단원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KC/난이도/유형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80160" y="14173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17320" y="914400"/>
            <a:ext cx="9601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17320" y="914400"/>
            <a:ext cx="9601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9144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AI 생성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90472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N배수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스트리밍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77440" y="14173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14600" y="914400"/>
            <a:ext cx="9601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914400"/>
            <a:ext cx="9601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9144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큐레이션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87752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검토/채택/수정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비교 UI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0" y="14173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11880" y="914400"/>
            <a:ext cx="9601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11880" y="914400"/>
            <a:ext cx="9601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9144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형식변환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85032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선다↔서술↔단답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보존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14173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914400"/>
            <a:ext cx="9601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914400"/>
            <a:ext cx="9601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9144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해설생성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82312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풀이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오답 분석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69280" y="14173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06440" y="914400"/>
            <a:ext cx="9601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06440" y="914400"/>
            <a:ext cx="96012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5806440" y="9144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메타태깅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79592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자동추천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검사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0" y="14173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03720" y="914400"/>
            <a:ext cx="9601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03720" y="914400"/>
            <a:ext cx="9601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9144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AI-QA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76872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검증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863840" y="14173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01000" y="914400"/>
            <a:ext cx="9601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001000" y="914400"/>
            <a:ext cx="96012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8001000" y="9144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검수/승인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74152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교차검증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승인자≠생성자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256032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2560320"/>
            <a:ext cx="54864" cy="2103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경로 (주 흐름)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40080" y="29260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입력 → AI 문항+정답 N배수 생성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개발자 검토/채택/수정 (카드 비교 UI)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형식 변환 (선택, AI 보조)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해설 생성 → 메타 태깅 (KC 자동추천)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AI-QA 교차 검증 (비동기 1~2분)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검수자(≠생성자) 승인 → 배포가능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Delivery 빌드 자동 트리거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256032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2560320"/>
            <a:ext cx="54864" cy="2103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2" name="Text 50"/>
          <p:cNvSpPr/>
          <p:nvPr/>
        </p:nvSpPr>
        <p:spPr>
          <a:xfrm>
            <a:off x="493776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HWP 마이그레이션 경로 (8만 건)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937760" y="29260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분리형 워커 (한컴 SDK — 상용 솔루션)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구조화 변환 (structured_md + KaTeX)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ZIP 패키징 → Drop Zone(S3) 업로드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메인 서버 DB 적재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원본 대조 검수 (좌: HWP, 우: 렌더링)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교정 → 메타 태깅 → 표준 LCMS 플로우 합류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규격 확정이 변환 타겟 결정의 전제조건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2. 출제 · 시험 · 채점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CBT + 인쇄(PDF) + 하이브리드까지 — 다양한 현장 환경 지원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2103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941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편성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141732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과목·단원·난이도 조건 설정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자동추천 + 수동 선별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조합 알고리즘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91440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914400"/>
            <a:ext cx="54864" cy="2103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6040" y="914400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63240" y="941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시험지 확정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15768" y="141732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미리보기 (온라인 뷰 + PDF)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순서·배점 조정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 생성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14400"/>
            <a:ext cx="54864" cy="2103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914400"/>
            <a:ext cx="411480" cy="411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941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141732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온라인: 링크/코드 생성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인쇄: PDF 레이아웃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기간/횟수 접근 제한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91440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914400"/>
            <a:ext cx="54864" cy="2103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6"/>
          <p:cNvSpPr/>
          <p:nvPr/>
        </p:nvSpPr>
        <p:spPr>
          <a:xfrm>
            <a:off x="6903720" y="914400"/>
            <a:ext cx="41148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60920" y="941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응시 · 채점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13448" y="141732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실시간 응시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3중 자동저장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자동 채점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제공 방식 — 온·오프라인 동시 지원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361188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611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CBT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724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브라우저 기반 시험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 입력/선택 UI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진행 저장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동기화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651760" y="3611880"/>
            <a:ext cx="54864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2788920" y="3611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인쇄 PDF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8892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시험지 생성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간이 편집 (머리말/배점)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 현장 출력 대응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HWP 역변환은 검토 중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61188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611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인쇄 문제지 + 온라인 답안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QR/코드로 연결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채점 연동 가능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(기술 검증 필요)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75120" y="361188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812280" y="3611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3중 자동저장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1228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→ IndexedDB → 서버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종료에도 답안 보존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재접속 3단계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(즉시→5초→30초→포기)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3. 리포팅 · 분석 · 추천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54864" cy="2560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914400"/>
            <a:ext cx="260604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결과 수집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417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문항별 정답률 산출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시간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오답 패턴 수집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학급/학년 단위 통계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914400"/>
            <a:ext cx="54864" cy="2560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914400"/>
            <a:ext cx="260604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분석 리포트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417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성취도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학급 통계 비교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KC별 취약점 진단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교사용 대시보드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54864" cy="2560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914400"/>
            <a:ext cx="26060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맞춤 추천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417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자동 보정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(정답률 기반 동적 재산정)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 KC 기반 보충 문항 추천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학습 안내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피드백 루프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학생이 풀 때마다 건별 감쇠(per-attempt decay) 방식으로 즉시 보정. 학생 레벨/학년 가중치 적용.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응답 데이터가 문항 메타 난이도를 업데이트하고, 이것이 다시 문항 추천에 반영되는 선순환 구조.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파이프라인 — 5종 역할과 Human-in-the-Loop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공수를 줄이되, 모든 산출물은 사람 검수를 통과해야 서비스에 반영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파이프라인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AI 모델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트리거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AI가 하는 일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사람이 하는 일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</a:rPr>
                        <a:t>P1. 문항+정답 생성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Gemini 2.5 Pro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개발자 요청 시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조건 기반 문항 후보 N배수 생성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채택/폐기/수정 결정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</a:rPr>
                        <a:t>P2. 형식 변환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Gemini 2.5 Pro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채택 후 요청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선다형↔서술형↔단답형 변환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원본-변환 비교 후 확정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</a:rPr>
                        <a:t>P3. 해설 생성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Gemini 2.5 Pro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형식 확정 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단계별 풀이 + 오답 분석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해설 검토/수정 후 확정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</a:rPr>
                        <a:t>P4. KC 추천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Claude Sonnet 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메타 태깅 시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후보 KC 풀에서 1~3개 추천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추천 결과 확인/수정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</a:rPr>
                        <a:t>P5. 유사도 분석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Claude + pgvector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저작 시/배치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형식·내용 유사도 평가 + 중복 탐지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중복 여부 최종 판단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79476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원칙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114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AI 산출물은 사람이 최종 확인 후 확정. 검수 없이 서비스에 나가는 문항은 없음.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교차 검증: 생성에 쓴 AI와 다른 AI가 결과물을 재검증 — 한쪽 AI만 믿지 않음.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 시 재처리: 사람이 반려하면 수정 후 다시 검수 프로세스를 탐 — 자동 통과 없음.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문항그룹 · 공통지문 구조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공통지문에서 파생된 문항이 각각 독립적인 KC를 가지고 작동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1828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문항그룹이 필요한가?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K12 시험에서는 하나의 지문(예: 영어 듣기 음성, 수학 그래프, 과학 실험 설명)에 대해 여러 문항을 출제하는 것이 일반적.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공통지문과 개별 문항을 별도 관리하지 못해, 지문 변경 시 모든 문항을 개별 수정하거나, 하나의 문항처럼 묶어서 세밀한 분석이 불가능했음.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구조: ITEM_GROUP → 개별 ITEM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공통지문 (ITEM_GROUP)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83080" y="256032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880360"/>
            <a:ext cx="21031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880360"/>
            <a:ext cx="21031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71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KC: 일차함수 그래프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08960" y="2880360"/>
            <a:ext cx="21031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2880360"/>
            <a:ext cx="21031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971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KC: 기울기·절편 해석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2880360"/>
            <a:ext cx="21031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77840" y="2880360"/>
            <a:ext cx="21031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2971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KC: 함수값 계산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8862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KC: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지문이라도 문항별로 다른 KC·난이도·성취기준 태깅 가능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출제 유연성: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단위 출제(3문항 묶음) 또는 개별 문항 단위 출제 모두 지원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연동: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음성(영어 듣기), 영상(음악 감상), 이미지(과학 실험) CDN 스트리밍 배포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착수 전 결정 사항 — 산출물 규격 확정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변환·생성·빌드의 타겟이 되는 최종 산출물 형식을 먼저 정해야 한다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규격이 확정되지 않으면, HWP 전환 테스트도 AI 저작 PoC도 타겟 없이 진행하게 됩니다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260604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508760"/>
            <a:ext cx="54864" cy="3154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08760"/>
            <a:ext cx="260604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08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뷰어 규격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structured_md를 웹에서 어떻게 렌더링?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HTML 기반 커스텀 뷰어 개발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기존 플랫폼 뷰어 규격 활용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표준 Markdown 렌더러 + KaTeX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결정에 따라 프론트엔드 개발 범위 결정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508760"/>
            <a:ext cx="260604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508760"/>
            <a:ext cx="54864" cy="3154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508760"/>
            <a:ext cx="260604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508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인쇄물 규격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01168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교사 인쇄 출력을 어떻게 지원?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PDF 전용 (간이 편집 포함)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HWP 역변환 병행 (추가 파이프라인)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PDF + HWP 병행 (과도기)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HWP 의존도 vs 개발 비용 트레이드오프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508760"/>
            <a:ext cx="260604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508760"/>
            <a:ext cx="54864" cy="3154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508760"/>
            <a:ext cx="26060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508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포맷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01168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빌드 타겟은?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web_cbt: HTML/JSON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print_pdf: PDF (편집 수준?)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JSON + 네이티브 렌더링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api_json: 외부 시스템 연동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Master→배포 빌드 파이프라인 설계 좌우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즉시 착수 과제 — HWP 전환 테스트 + AI 저작 PoC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규격 확정 직후 병행 착수하여 기술 리스크를 조기에 검증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2926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HWP 전환 테스트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3716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8만 건 기존 문항의 구조화 변환 가능성·품질 검증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항목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수식(LaTeX) 변환 정확도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이미지·표·그래프 추출 품질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구조 분리 (지문/보기/정답/해설)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포맷(산출물 규격)으로의 변환 성공률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방식: 한컴 SDK(상용 솔루션) 기반 변환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첫해는 상용 솔루션으로 안정성 확보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54864" cy="2926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AI 저작 도구 PoC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3716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문항 생성·검증 파이프라인의 품질·비용 검증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항목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문항 생성 품질 (교사 채택률 목표 60%)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기반 출력 (structured_md) 준수율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 기반 렌더링 품질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자동 추천 정확도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D48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방식: Gemini(생성) + Claude(분석) 병용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과목: 수학 (수식 변환 난이도 가장 높은 과목 선행)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규격 확정 (1~2주)  →  HWP 전환 테스트 + AI 저작 PoC 병행 착수 (4~6주)  →  Go/No-Go 판정  →  Phase 1 본격 개발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비용 추정 — 마이그레이션 + 운영 분리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68680"/>
            <a:ext cx="54864" cy="2286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마이그레이션 비용 (8만 건 변환)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356616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5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산출 근거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5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비용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HWP→구조화 변환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8만 건 × 한컴 SDK(상용)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산정 중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변환 결과 검증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8만 건 × 대조 검수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산정 중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KC 자동 태깅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8만 건 × Claude 추천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산정 중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유사도 임베딩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8만 건 × 임베딩 생성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산정 중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합계 (1회성)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</a:rPr>
                        <a:t>확인 필요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28803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8만 건 기준 비용은 PoC 결과 기반으로 정밀 산정 예정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754880" y="8686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868680"/>
            <a:ext cx="54864" cy="2286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운영 비용 (서비스 안정화 후)</a:t>
            </a:r>
            <a:endParaRPr lang="en-US" sz="12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80160"/>
          <a:ext cx="356616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파이프라인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월 호출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월 비용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P1. 문항생성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3,000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~$200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P2. 형식변환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1,000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~$40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P3. 해설생성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3,000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~$150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P4. KC추천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5,000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~$90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P5. 유사도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2,000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~$35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합계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B4D8"/>
                          </a:solidFill>
                        </a:rPr>
                        <a:t>~$516/월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통제 체계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3657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단위: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100회/일, TEACHER 30회/일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단위: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토큰 상한 설정, 80% 알림 → 100% 자동 차단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일/주/월별 비용 추이, 파이프라인별 분포, 사용자별 랭킹, 월 예산 대비 사용률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9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— CEO 보고서 기준 총 AI 비용 1,747만원(14개월)은 개발 코딩 보조(86%) 포함 수치. 문항 서비스 자체 AI 비용은 별도 산정 필요 (확인 중)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리스크 및 대응 방향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리스크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영향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대응 방향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검증 시점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산출물 규격 미확정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전환/생성 타겟 부재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→ 모든 개발 지연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착수 전 1~2주 내 확정 필수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온라인 뷰어 + 인쇄 포맷 결정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</a:rPr>
                        <a:t>즉시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HWP 수식 변환 정확도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8만 건 변환 품질 좌우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수학 문항 핵심 난제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한컴 SDK(상용 솔루션) 기반 변환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전환 테스트에서 품질 검증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891B2"/>
                          </a:solidFill>
                        </a:rPr>
                        <a:t>전환 테스트 (4~6주)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교육과정 체계 DB 미구축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메타 태깅, AI 조건 입력 불가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전 모듈에 영향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서비스 개발 전 시드 데이터 구축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MVP는 수학 집중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891B2"/>
                          </a:solidFill>
                        </a:rPr>
                        <a:t>Phase 1 착수 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AI 생성 품질 불안정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교사 채택률 저하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서비스 신뢰도 하락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Prompt A/B 테스트, cross-model 검증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Human-in-the-Loop 필수 적용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891B2"/>
                          </a:solidFill>
                        </a:rPr>
                        <a:t>PoC + 지속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AI API 비용 변동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예산 초과 리스크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8만 건 변환 비용 불확실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3-tier 사용량 제한, 응답 캐싱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마이그레이션/운영 비용 분리 관리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891B2"/>
                          </a:solidFill>
                        </a:rPr>
                        <a:t>PoC + 지속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리소스 · 비용 산정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투입 인원/예산 과소 추정 시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일정 지연 + 품질 저하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Phase별 재검토 체계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(착수 후 분야별 재산정 필요)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891B2"/>
                          </a:solidFill>
                        </a:rPr>
                        <a:t>Phase 1 착수 시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프로젝트는 전체 규모와 리스크를 명확히 파악하기 위한 검토 단계이며, 개발 착수 시 각 분야별로 재검토·재산정이 필요합니다.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Phase별 추진 계획 (14개월)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M1~M4 (4개월)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0058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문항 생성 + LCMS 관리 + 기본 출제/CBT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과목 집중, structured_md 기반 저작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구축 (AWS/NCP, CI/CD)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7452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Beta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1945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M5~M8 (4개월)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19659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출제→CBT→PDF 전체 Flow 완성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리포팅·추천모델, 다중메타(22개정/향후 개정)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1~2개교 배포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Prod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154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M9~M11 (3개월)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34640" y="29260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출시, AI 파이프라인 최적화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5~10개교 확대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A/B 테스트 체계 구축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확장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M12~M14 (3개월)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3886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 확장 (과학 등)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HWP 출력, 학생 LMS 고도화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감사, 성능 최적화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리소스(인원/비용) 산정은 확인이 필요한 사항이며, 개발 착수 시 분야별로 재검토·재산정합니다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1032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문항서비스 실무 기술 가이드  |  Q&amp;A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문항서비스 — 실무 기술 가이드 v2</dc:title>
  <dc:subject>PptxGenJS Presentation</dc:subject>
  <dc:creator>Digital Strategy Division</dc:creator>
  <cp:lastModifiedBy>Digital Strategy Division</cp:lastModifiedBy>
  <cp:revision>2</cp:revision>
  <dcterms:created xsi:type="dcterms:W3CDTF">2026-03-31T02:13:14Z</dcterms:created>
  <dcterms:modified xsi:type="dcterms:W3CDTF">2026-04-02T09:03:25Z</dcterms:modified>
</cp:coreProperties>
</file>